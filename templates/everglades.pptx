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0" y="91440"/>
            <a:ext cx="12191695" cy="6419088"/>
          </a:xfrm>
          <a:prstGeom prst="rect">
            <a:avLst/>
          </a:prstGeom>
          <a:solidFill>
            <a:srgbClr val="0B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FFFFFF"/>
                </a:solidFill>
                <a:latin typeface="Poppins"/>
              </a:rPr>
              <a:t>America's Everglades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b="0">
                <a:solidFill>
                  <a:srgbClr val="FFFFFF"/>
                </a:solidFill>
                <a:latin typeface="Poppins"/>
              </a:rPr>
              <a:t>Restoration is worth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1E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B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6017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The Everglades Foundation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433F"/>
                </a:solidFill>
                <a:latin typeface="Poppins"/>
              </a:rPr>
              <a:t>Science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1E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B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6017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The Everglades Foundation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433F"/>
                </a:solidFill>
                <a:latin typeface="Poppins"/>
              </a:rPr>
              <a:t>What we protect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b="0">
                <a:solidFill>
                  <a:srgbClr val="0893A6"/>
                </a:solidFill>
                <a:latin typeface="Poppins"/>
              </a:rPr>
              <a:t>Water
Wildlife
Communities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1E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B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6017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The Everglades Foundation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433F"/>
                </a:solidFill>
                <a:latin typeface="Poppins"/>
              </a:rPr>
              <a:t>Two stories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r>
              <a:rPr sz="1800" b="0">
                <a:solidFill>
                  <a:srgbClr val="0893A6"/>
                </a:solidFill>
                <a:latin typeface="Poppins"/>
              </a:rPr>
              <a:t>Left column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800" b="0">
                <a:solidFill>
                  <a:srgbClr val="0893A6"/>
                </a:solidFill>
                <a:latin typeface="Poppins"/>
              </a:rPr>
              <a:t>Left column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1E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B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6017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The Everglades Foundation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433F"/>
                </a:solidFill>
                <a:latin typeface="Poppins"/>
              </a:rPr>
              <a:t>Field work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>
            <a:r>
              <a:rPr sz="1800" b="0">
                <a:solidFill>
                  <a:srgbClr val="0893A6"/>
                </a:solidFill>
                <a:latin typeface="Poppins"/>
              </a:rPr>
              <a:t>Caption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1E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B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6017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The Everglades Foundation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433F"/>
                </a:solidFill>
                <a:latin typeface="Poppins"/>
              </a:rPr>
              <a:t>A thriving Everglades means a thriving economy.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1E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B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46017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The Everglades Foundation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0B433F"/>
                </a:solidFill>
                <a:latin typeface="Poppins"/>
              </a:rPr>
              <a:t>Funding over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C1E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B4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510528"/>
            <a:ext cx="1146017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</a:defRPr>
            </a:pPr>
            <a:r>
              <a:t>The Everglades Foundation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B433F"/>
      </a:dk1>
      <a:lt1>
        <a:srgbClr val="FFFFFF"/>
      </a:lt1>
      <a:dk2>
        <a:srgbClr val="116680"/>
      </a:dk2>
      <a:lt2>
        <a:srgbClr val="E7F3C1"/>
      </a:lt2>
      <a:accent1>
        <a:srgbClr val="0893A6"/>
      </a:accent1>
      <a:accent2>
        <a:srgbClr val="C1EA40"/>
      </a:accent2>
      <a:accent3>
        <a:srgbClr val="0B433F"/>
      </a:accent3>
      <a:accent4>
        <a:srgbClr val="116680"/>
      </a:accent4>
      <a:accent5>
        <a:srgbClr val="0893A6"/>
      </a:accent5>
      <a:accent6>
        <a:srgbClr val="C1EA40"/>
      </a:accent6>
      <a:hlink>
        <a:srgbClr val="0893A6"/>
      </a:hlink>
      <a:folHlink>
        <a:srgbClr val="0B433F"/>
      </a:folHlink>
    </a:clrScheme>
    <a:fontScheme name="Office">
      <a:majorFont>
        <a:latin typeface="Poppins"/>
        <a:ea typeface="Poppins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oppins"/>
        <a:ea typeface="Poppins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